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Noto Sans Bold" charset="1" panose="020B0802040504020204"/>
      <p:regular r:id="rId27"/>
    </p:embeddedFont>
    <p:embeddedFont>
      <p:font typeface="Noto Sans" charset="1" panose="020B0502040504020204"/>
      <p:regular r:id="rId28"/>
    </p:embeddedFont>
    <p:embeddedFont>
      <p:font typeface="Josefin Sans" charset="1" panose="00000500000000000000"/>
      <p:regular r:id="rId29"/>
    </p:embeddedFont>
    <p:embeddedFont>
      <p:font typeface="Cormorant Garamond Bold Italics" charset="1" panose="00000800000000000000"/>
      <p:regular r:id="rId30"/>
    </p:embeddedFont>
    <p:embeddedFont>
      <p:font typeface="Quicksand" charset="1" panose="00000000000000000000"/>
      <p:regular r:id="rId31"/>
    </p:embeddedFont>
    <p:embeddedFont>
      <p:font typeface="Quicksand Bold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00445" y="1697303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13944" y="5536254"/>
            <a:ext cx="9525" cy="108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98623" y="3104446"/>
            <a:ext cx="16743482" cy="515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0"/>
              </a:lnSpc>
            </a:pPr>
          </a:p>
          <a:p>
            <a:pPr algn="ctr">
              <a:lnSpc>
                <a:spcPts val="8220"/>
              </a:lnSpc>
            </a:pPr>
            <a:r>
              <a:rPr lang="en-US" sz="5872" b="true">
                <a:solidFill>
                  <a:srgbClr val="0F466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XÂY DỰNG HỆ THỐNG GỢI Ý ĐIỂM DU LỊCH QUỐC TẾ DỰA TRÊN KHAI PHÁ DỮ LIỆU </a:t>
            </a:r>
          </a:p>
          <a:p>
            <a:pPr algn="ctr">
              <a:lnSpc>
                <a:spcPts val="8220"/>
              </a:lnSpc>
            </a:pPr>
          </a:p>
          <a:p>
            <a:pPr algn="ctr">
              <a:lnSpc>
                <a:spcPts val="822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35517" y="2539995"/>
            <a:ext cx="6607316" cy="1357503"/>
          </a:xfrm>
          <a:custGeom>
            <a:avLst/>
            <a:gdLst/>
            <a:ahLst/>
            <a:cxnLst/>
            <a:rect r="r" b="b" t="t" l="l"/>
            <a:pathLst>
              <a:path h="1357503" w="6607316">
                <a:moveTo>
                  <a:pt x="0" y="0"/>
                </a:moveTo>
                <a:lnTo>
                  <a:pt x="6607317" y="0"/>
                </a:lnTo>
                <a:lnTo>
                  <a:pt x="6607317" y="1357503"/>
                </a:lnTo>
                <a:lnTo>
                  <a:pt x="0" y="1357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3404" y="2895214"/>
            <a:ext cx="61542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ĐỒ ÁN TỐT NGHIỆP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3395" y="7097653"/>
            <a:ext cx="11340145" cy="69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3"/>
              </a:lnSpc>
              <a:spcBef>
                <a:spcPct val="0"/>
              </a:spcBef>
            </a:pPr>
            <a:r>
              <a:rPr lang="en-US" sz="3980">
                <a:solidFill>
                  <a:srgbClr val="0F4662"/>
                </a:solidFill>
                <a:latin typeface="Josefin Sans"/>
                <a:ea typeface="Josefin Sans"/>
                <a:cs typeface="Josefin Sans"/>
                <a:sym typeface="Josefin Sans"/>
              </a:rPr>
              <a:t>Giảng viên hướng dẫn: ThS. Phạm Thị Trúc Mai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6576" y="8012053"/>
            <a:ext cx="17374736" cy="698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86"/>
              </a:lnSpc>
              <a:spcBef>
                <a:spcPct val="0"/>
              </a:spcBef>
            </a:pPr>
            <a:r>
              <a:rPr lang="en-US" sz="3990">
                <a:solidFill>
                  <a:srgbClr val="0F4662"/>
                </a:solidFill>
                <a:latin typeface="Josefin Sans"/>
                <a:ea typeface="Josefin Sans"/>
                <a:cs typeface="Josefin Sans"/>
                <a:sym typeface="Josefin Sans"/>
              </a:rPr>
              <a:t>Sinh viên thực hiện:  Thạch Thị Xuân Linh - DA22TTA-110122013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332114"/>
            <a:ext cx="1700445" cy="1700445"/>
          </a:xfrm>
          <a:custGeom>
            <a:avLst/>
            <a:gdLst/>
            <a:ahLst/>
            <a:cxnLst/>
            <a:rect r="r" b="b" t="t" l="l"/>
            <a:pathLst>
              <a:path h="1700445" w="1700445">
                <a:moveTo>
                  <a:pt x="0" y="0"/>
                </a:moveTo>
                <a:lnTo>
                  <a:pt x="1700445" y="0"/>
                </a:lnTo>
                <a:lnTo>
                  <a:pt x="1700445" y="1700445"/>
                </a:lnTo>
                <a:lnTo>
                  <a:pt x="0" y="17004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00445" y="472928"/>
            <a:ext cx="8234272" cy="6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1"/>
              </a:lnSpc>
            </a:pPr>
            <a:r>
              <a:rPr lang="en-US" sz="3786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</a:t>
            </a:r>
            <a:r>
              <a:rPr lang="en-US" sz="3786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ƯỜNG KỸ THUẬT VÀ CÔNG NGHỆ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88312" y="1078178"/>
            <a:ext cx="5258538" cy="47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2"/>
              </a:lnSpc>
            </a:pPr>
            <a:r>
              <a:rPr lang="en-US" sz="2815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KHOA CÔNG NGHỆ THÔNG TIN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1/21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50202"/>
            <a:chOff x="0" y="0"/>
            <a:chExt cx="4816593" cy="487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7296"/>
            </a:xfrm>
            <a:custGeom>
              <a:avLst/>
              <a:gdLst/>
              <a:ahLst/>
              <a:cxnLst/>
              <a:rect r="r" b="b" t="t" l="l"/>
              <a:pathLst>
                <a:path h="487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7296"/>
                  </a:lnTo>
                  <a:lnTo>
                    <a:pt x="0" y="487296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34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28942"/>
            <a:ext cx="1569112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Nội dung</a:t>
            </a:r>
          </a:p>
        </p:txBody>
      </p:sp>
      <p:sp>
        <p:nvSpPr>
          <p:cNvPr name="AutoShape 6" id="6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109687"/>
            <a:ext cx="12478822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1. Lý do chọn đề tài, mục tiêu và phương pháp nghiên cứu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 2. Cơ sở lý thuyết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 3. Hiện thực hóa nghiên cứu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 4. Kết quả thực nghiệm và kết quả đạt được</a:t>
            </a:r>
          </a:p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 5. Kết luận và hướng phát triển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2/21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535201"/>
            <a:chOff x="0" y="0"/>
            <a:chExt cx="4816593" cy="6677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67707"/>
            </a:xfrm>
            <a:custGeom>
              <a:avLst/>
              <a:gdLst/>
              <a:ahLst/>
              <a:cxnLst/>
              <a:rect r="r" b="b" t="t" l="l"/>
              <a:pathLst>
                <a:path h="66770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7707"/>
                  </a:lnTo>
                  <a:lnTo>
                    <a:pt x="0" y="667707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71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72664" y="510666"/>
            <a:ext cx="18261800" cy="2297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3"/>
              </a:lnSpc>
            </a:pPr>
            <a:r>
              <a:rPr lang="en-US" sz="660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Lý do chọn đề tài, mục tiêu và phương pháp nghiên cứu</a:t>
            </a:r>
          </a:p>
          <a:p>
            <a:pPr algn="l" marL="0" indent="0" lvl="0">
              <a:lnSpc>
                <a:spcPts val="9253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6053403" y="998917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2020831"/>
            <a:ext cx="16749729" cy="1857054"/>
            <a:chOff x="0" y="0"/>
            <a:chExt cx="4411451" cy="4891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1451" cy="489101"/>
            </a:xfrm>
            <a:custGeom>
              <a:avLst/>
              <a:gdLst/>
              <a:ahLst/>
              <a:cxnLst/>
              <a:rect r="r" b="b" t="t" l="l"/>
              <a:pathLst>
                <a:path h="489101" w="4411451">
                  <a:moveTo>
                    <a:pt x="7858" y="0"/>
                  </a:moveTo>
                  <a:lnTo>
                    <a:pt x="4403594" y="0"/>
                  </a:lnTo>
                  <a:cubicBezTo>
                    <a:pt x="4405678" y="0"/>
                    <a:pt x="4407676" y="828"/>
                    <a:pt x="4409150" y="2301"/>
                  </a:cubicBezTo>
                  <a:cubicBezTo>
                    <a:pt x="4410623" y="3775"/>
                    <a:pt x="4411451" y="5774"/>
                    <a:pt x="4411451" y="7858"/>
                  </a:cubicBezTo>
                  <a:lnTo>
                    <a:pt x="4411451" y="481243"/>
                  </a:lnTo>
                  <a:cubicBezTo>
                    <a:pt x="4411451" y="485583"/>
                    <a:pt x="4407933" y="489101"/>
                    <a:pt x="4403594" y="489101"/>
                  </a:cubicBezTo>
                  <a:lnTo>
                    <a:pt x="7858" y="489101"/>
                  </a:lnTo>
                  <a:cubicBezTo>
                    <a:pt x="5774" y="489101"/>
                    <a:pt x="3775" y="488273"/>
                    <a:pt x="2301" y="486799"/>
                  </a:cubicBezTo>
                  <a:cubicBezTo>
                    <a:pt x="828" y="485326"/>
                    <a:pt x="0" y="483327"/>
                    <a:pt x="0" y="481243"/>
                  </a:cubicBezTo>
                  <a:lnTo>
                    <a:pt x="0" y="7858"/>
                  </a:lnTo>
                  <a:cubicBezTo>
                    <a:pt x="0" y="5774"/>
                    <a:pt x="828" y="3775"/>
                    <a:pt x="2301" y="2301"/>
                  </a:cubicBezTo>
                  <a:cubicBezTo>
                    <a:pt x="3775" y="828"/>
                    <a:pt x="5774" y="0"/>
                    <a:pt x="7858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411451" cy="536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2874" y="2133541"/>
            <a:ext cx="3155275" cy="49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3"/>
              </a:lnSpc>
              <a:spcBef>
                <a:spcPct val="0"/>
              </a:spcBef>
            </a:pPr>
            <a:r>
              <a:rPr lang="en-US" b="true" sz="2938">
                <a:solidFill>
                  <a:srgbClr val="0F466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Lý do chọn đề tài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1654" y="2654622"/>
            <a:ext cx="15471938" cy="152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4422" indent="-317211" lvl="1">
              <a:lnSpc>
                <a:spcPts val="4113"/>
              </a:lnSpc>
              <a:buFont typeface="Arial"/>
              <a:buChar char="•"/>
            </a:pPr>
            <a:r>
              <a:rPr lang="en-US" sz="293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93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gười dùng dễ quá tải khi chọn điểm đến du lịch quốc tế.</a:t>
            </a:r>
          </a:p>
          <a:p>
            <a:pPr algn="just" marL="634422" indent="-317211" lvl="1">
              <a:lnSpc>
                <a:spcPts val="4113"/>
              </a:lnSpc>
              <a:buFont typeface="Arial"/>
              <a:buChar char="•"/>
            </a:pPr>
            <a:r>
              <a:rPr lang="en-US" sz="293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Cần hệ thống gợi ý phù hợp theo mùa, chi phí và sở thích.</a:t>
            </a:r>
          </a:p>
          <a:p>
            <a:pPr algn="just">
              <a:lnSpc>
                <a:spcPts val="4113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-5931943" y="4337754"/>
            <a:ext cx="23710371" cy="2102242"/>
            <a:chOff x="0" y="0"/>
            <a:chExt cx="31613829" cy="280298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9218169" y="0"/>
              <a:ext cx="22395660" cy="2802989"/>
              <a:chOff x="0" y="0"/>
              <a:chExt cx="4423834" cy="55367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423834" cy="553677"/>
              </a:xfrm>
              <a:custGeom>
                <a:avLst/>
                <a:gdLst/>
                <a:ahLst/>
                <a:cxnLst/>
                <a:rect r="r" b="b" t="t" l="l"/>
                <a:pathLst>
                  <a:path h="553677" w="4423834">
                    <a:moveTo>
                      <a:pt x="7836" y="0"/>
                    </a:moveTo>
                    <a:lnTo>
                      <a:pt x="4415999" y="0"/>
                    </a:lnTo>
                    <a:cubicBezTo>
                      <a:pt x="4420326" y="0"/>
                      <a:pt x="4423834" y="3508"/>
                      <a:pt x="4423834" y="7836"/>
                    </a:cubicBezTo>
                    <a:lnTo>
                      <a:pt x="4423834" y="545841"/>
                    </a:lnTo>
                    <a:cubicBezTo>
                      <a:pt x="4423834" y="550169"/>
                      <a:pt x="4420326" y="553677"/>
                      <a:pt x="4415999" y="553677"/>
                    </a:cubicBezTo>
                    <a:lnTo>
                      <a:pt x="7836" y="553677"/>
                    </a:lnTo>
                    <a:cubicBezTo>
                      <a:pt x="3508" y="553677"/>
                      <a:pt x="0" y="550169"/>
                      <a:pt x="0" y="545841"/>
                    </a:cubicBezTo>
                    <a:lnTo>
                      <a:pt x="0" y="7836"/>
                    </a:lnTo>
                    <a:cubicBezTo>
                      <a:pt x="0" y="3508"/>
                      <a:pt x="3508" y="0"/>
                      <a:pt x="7836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4423834" cy="6013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93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17436"/>
              <a:ext cx="23642403" cy="644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</a:pPr>
              <a:r>
                <a:rPr lang="en-US" sz="2899" b="true">
                  <a:solidFill>
                    <a:srgbClr val="0F466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</a:t>
              </a:r>
              <a:r>
                <a:rPr lang="en-US" b="true" sz="2899">
                  <a:solidFill>
                    <a:srgbClr val="0F466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ục tiêu đề tài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691444" y="650107"/>
              <a:ext cx="19256432" cy="2006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29822" indent="-314911" lvl="1">
                <a:lnSpc>
                  <a:spcPts val="4084"/>
                </a:lnSpc>
                <a:buFont typeface="Arial"/>
                <a:buChar char="•"/>
              </a:pPr>
              <a:r>
                <a:rPr lang="en-US" sz="2917">
                  <a:solidFill>
                    <a:srgbClr val="0F4662"/>
                  </a:solidFill>
                  <a:latin typeface="Quicksand"/>
                  <a:ea typeface="Quicksand"/>
                  <a:cs typeface="Quicksand"/>
                  <a:sym typeface="Quicksand"/>
                </a:rPr>
                <a:t>Xây dựng website gợi ý điểm đến du lịch quốc tế.</a:t>
              </a:r>
            </a:p>
            <a:p>
              <a:pPr algn="just" marL="629822" indent="-314911" lvl="1">
                <a:lnSpc>
                  <a:spcPts val="4084"/>
                </a:lnSpc>
                <a:buFont typeface="Arial"/>
                <a:buChar char="•"/>
              </a:pPr>
              <a:r>
                <a:rPr lang="en-US" sz="2917">
                  <a:solidFill>
                    <a:srgbClr val="0F4662"/>
                  </a:solidFill>
                  <a:latin typeface="Quicksand"/>
                  <a:ea typeface="Quicksand"/>
                  <a:cs typeface="Quicksand"/>
                  <a:sym typeface="Quicksand"/>
                </a:rPr>
                <a:t>Cá nhân hóa kết quả theo nhu cầu người dùng.</a:t>
              </a:r>
            </a:p>
            <a:p>
              <a:pPr algn="just" marL="629822" indent="-314911" lvl="1">
                <a:lnSpc>
                  <a:spcPts val="4084"/>
                </a:lnSpc>
                <a:buFont typeface="Arial"/>
                <a:buChar char="•"/>
              </a:pPr>
              <a:r>
                <a:rPr lang="en-US" sz="2917">
                  <a:solidFill>
                    <a:srgbClr val="0F4662"/>
                  </a:solidFill>
                  <a:latin typeface="Quicksand"/>
                  <a:ea typeface="Quicksand"/>
                  <a:cs typeface="Quicksand"/>
                  <a:sym typeface="Quicksand"/>
                </a:rPr>
                <a:t>Hiển thị kết quả trực quan qua bản đồ và giao diện web.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6763846"/>
            <a:ext cx="16749729" cy="2494454"/>
            <a:chOff x="0" y="0"/>
            <a:chExt cx="4411451" cy="6569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1451" cy="656976"/>
            </a:xfrm>
            <a:custGeom>
              <a:avLst/>
              <a:gdLst/>
              <a:ahLst/>
              <a:cxnLst/>
              <a:rect r="r" b="b" t="t" l="l"/>
              <a:pathLst>
                <a:path h="656976" w="4411451">
                  <a:moveTo>
                    <a:pt x="7858" y="0"/>
                  </a:moveTo>
                  <a:lnTo>
                    <a:pt x="4403594" y="0"/>
                  </a:lnTo>
                  <a:cubicBezTo>
                    <a:pt x="4405678" y="0"/>
                    <a:pt x="4407676" y="828"/>
                    <a:pt x="4409150" y="2301"/>
                  </a:cubicBezTo>
                  <a:cubicBezTo>
                    <a:pt x="4410623" y="3775"/>
                    <a:pt x="4411451" y="5774"/>
                    <a:pt x="4411451" y="7858"/>
                  </a:cubicBezTo>
                  <a:lnTo>
                    <a:pt x="4411451" y="649118"/>
                  </a:lnTo>
                  <a:cubicBezTo>
                    <a:pt x="4411451" y="651202"/>
                    <a:pt x="4410623" y="653201"/>
                    <a:pt x="4409150" y="654674"/>
                  </a:cubicBezTo>
                  <a:cubicBezTo>
                    <a:pt x="4407676" y="656148"/>
                    <a:pt x="4405678" y="656976"/>
                    <a:pt x="4403594" y="656976"/>
                  </a:cubicBezTo>
                  <a:lnTo>
                    <a:pt x="7858" y="656976"/>
                  </a:lnTo>
                  <a:cubicBezTo>
                    <a:pt x="5774" y="656976"/>
                    <a:pt x="3775" y="656148"/>
                    <a:pt x="2301" y="654674"/>
                  </a:cubicBezTo>
                  <a:cubicBezTo>
                    <a:pt x="828" y="653201"/>
                    <a:pt x="0" y="651202"/>
                    <a:pt x="0" y="649118"/>
                  </a:cubicBezTo>
                  <a:lnTo>
                    <a:pt x="0" y="7858"/>
                  </a:lnTo>
                  <a:cubicBezTo>
                    <a:pt x="0" y="5774"/>
                    <a:pt x="828" y="3775"/>
                    <a:pt x="2301" y="2301"/>
                  </a:cubicBezTo>
                  <a:cubicBezTo>
                    <a:pt x="3775" y="828"/>
                    <a:pt x="5774" y="0"/>
                    <a:pt x="7858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411451" cy="704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04014" y="6907642"/>
            <a:ext cx="558201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true">
                <a:solidFill>
                  <a:srgbClr val="0F466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</a:t>
            </a:r>
            <a:r>
              <a:rPr lang="en-US" b="true" sz="2899">
                <a:solidFill>
                  <a:srgbClr val="0F466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hương pháp nghiên cứu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4774" y="7497906"/>
            <a:ext cx="15605698" cy="155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9251" indent="-319625" lvl="1">
              <a:lnSpc>
                <a:spcPts val="4145"/>
              </a:lnSpc>
              <a:buFont typeface="Arial"/>
              <a:buChar char="•"/>
            </a:pPr>
            <a:r>
              <a:rPr lang="en-US" sz="296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Thu thập và tiền xử lý dữ liệu du lịch.</a:t>
            </a:r>
          </a:p>
          <a:p>
            <a:pPr algn="just" marL="639251" indent="-319625" lvl="1">
              <a:lnSpc>
                <a:spcPts val="4145"/>
              </a:lnSpc>
              <a:buFont typeface="Arial"/>
              <a:buChar char="•"/>
            </a:pPr>
            <a:r>
              <a:rPr lang="en-US" sz="296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Áp dụng Apriori, K-Means và Content-Based Filtering.</a:t>
            </a:r>
          </a:p>
          <a:p>
            <a:pPr algn="just" marL="639251" indent="-319625" lvl="1">
              <a:lnSpc>
                <a:spcPts val="4145"/>
              </a:lnSpc>
              <a:buFont typeface="Arial"/>
              <a:buChar char="•"/>
            </a:pPr>
            <a:r>
              <a:rPr lang="en-US" sz="296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Xây dựng hệ thống bằng FastAPI, ReactJS, MongoDB, Leaflet.js và Gemini API.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248869" y="953924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3/21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55864"/>
            <a:chOff x="0" y="0"/>
            <a:chExt cx="4816593" cy="462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2450"/>
            </a:xfrm>
            <a:custGeom>
              <a:avLst/>
              <a:gdLst/>
              <a:ahLst/>
              <a:cxnLst/>
              <a:rect r="r" b="b" t="t" l="l"/>
              <a:pathLst>
                <a:path h="4624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2450"/>
                  </a:lnTo>
                  <a:lnTo>
                    <a:pt x="0" y="46245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1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58438" y="316510"/>
            <a:ext cx="15691127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Cơ sở lý thuyết</a:t>
            </a:r>
          </a:p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5897880" y="94916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4/21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8225" y="1698714"/>
            <a:ext cx="16230600" cy="634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 Khai phá dữ liệu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Tìm tri thức và mẫu ẩn từ dữ liệu du lịch.</a:t>
            </a:r>
          </a:p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 Apriori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Khai phá luật kết hợp giữa mùa, chi phí, loại hình và châu lục.</a:t>
            </a:r>
          </a:p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 K-Means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Phân cụm các điểm đến có đặc điểm tương đồng.</a:t>
            </a:r>
          </a:p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4. Content-Based Filtering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Gợi ý dựa trên độ tương đồng giữa nhu cầu người dùng và điểm đến.</a:t>
            </a:r>
          </a:p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5. Hybrid Recommendation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Kết hợp Content-Based, Apriori và Collaborative Filtering để xếp hạng gợi ý.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55864"/>
            <a:chOff x="0" y="0"/>
            <a:chExt cx="4816593" cy="462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2450"/>
            </a:xfrm>
            <a:custGeom>
              <a:avLst/>
              <a:gdLst/>
              <a:ahLst/>
              <a:cxnLst/>
              <a:rect r="r" b="b" t="t" l="l"/>
              <a:pathLst>
                <a:path h="4624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2450"/>
                  </a:lnTo>
                  <a:lnTo>
                    <a:pt x="0" y="46245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1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4916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8438" y="316510"/>
            <a:ext cx="15691127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Khai phá luật kết hợp Apriori</a:t>
            </a:r>
          </a:p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452774" y="2088955"/>
            <a:ext cx="8691226" cy="6846937"/>
            <a:chOff x="0" y="0"/>
            <a:chExt cx="2289047" cy="18033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9047" cy="1803309"/>
            </a:xfrm>
            <a:custGeom>
              <a:avLst/>
              <a:gdLst/>
              <a:ahLst/>
              <a:cxnLst/>
              <a:rect r="r" b="b" t="t" l="l"/>
              <a:pathLst>
                <a:path h="1803309" w="2289047">
                  <a:moveTo>
                    <a:pt x="15143" y="0"/>
                  </a:moveTo>
                  <a:lnTo>
                    <a:pt x="2273904" y="0"/>
                  </a:lnTo>
                  <a:cubicBezTo>
                    <a:pt x="2277920" y="0"/>
                    <a:pt x="2281772" y="1595"/>
                    <a:pt x="2284612" y="4435"/>
                  </a:cubicBezTo>
                  <a:cubicBezTo>
                    <a:pt x="2287452" y="7275"/>
                    <a:pt x="2289047" y="11127"/>
                    <a:pt x="2289047" y="15143"/>
                  </a:cubicBezTo>
                  <a:lnTo>
                    <a:pt x="2289047" y="1788165"/>
                  </a:lnTo>
                  <a:cubicBezTo>
                    <a:pt x="2289047" y="1796529"/>
                    <a:pt x="2282267" y="1803309"/>
                    <a:pt x="2273904" y="1803309"/>
                  </a:cubicBezTo>
                  <a:lnTo>
                    <a:pt x="15143" y="1803309"/>
                  </a:lnTo>
                  <a:cubicBezTo>
                    <a:pt x="11127" y="1803309"/>
                    <a:pt x="7275" y="1801713"/>
                    <a:pt x="4435" y="1798873"/>
                  </a:cubicBezTo>
                  <a:cubicBezTo>
                    <a:pt x="1595" y="1796033"/>
                    <a:pt x="0" y="1792181"/>
                    <a:pt x="0" y="1788165"/>
                  </a:cubicBezTo>
                  <a:lnTo>
                    <a:pt x="0" y="15143"/>
                  </a:lnTo>
                  <a:cubicBezTo>
                    <a:pt x="0" y="11127"/>
                    <a:pt x="1595" y="7275"/>
                    <a:pt x="4435" y="4435"/>
                  </a:cubicBezTo>
                  <a:cubicBezTo>
                    <a:pt x="7275" y="1595"/>
                    <a:pt x="11127" y="0"/>
                    <a:pt x="15143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89047" cy="185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0480" y="2495570"/>
            <a:ext cx="8375014" cy="594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08103" indent="-404052" lvl="1">
              <a:lnSpc>
                <a:spcPts val="5240"/>
              </a:lnSpc>
              <a:buFont typeface="Arial"/>
              <a:buChar char="•"/>
            </a:pPr>
            <a:r>
              <a:rPr lang="en-US" sz="3742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Tìm luật kết hợp giữa các thuộc tính du lịch.</a:t>
            </a:r>
          </a:p>
          <a:p>
            <a:pPr algn="just" marL="808103" indent="-404052" lvl="1">
              <a:lnSpc>
                <a:spcPts val="5240"/>
              </a:lnSpc>
              <a:buFont typeface="Arial"/>
              <a:buChar char="•"/>
            </a:pPr>
            <a:r>
              <a:rPr lang="en-US" sz="3742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Dữ liệu đầu vào là ma trận giao dịch one-hot.</a:t>
            </a:r>
          </a:p>
          <a:p>
            <a:pPr algn="just" marL="808103" indent="-404052" lvl="1">
              <a:lnSpc>
                <a:spcPts val="5240"/>
              </a:lnSpc>
              <a:buFont typeface="Arial"/>
              <a:buChar char="•"/>
            </a:pPr>
            <a:r>
              <a:rPr lang="en-US" sz="3742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Các item gồm mùa, chi phí, loại hình và châu lục.</a:t>
            </a:r>
          </a:p>
          <a:p>
            <a:pPr algn="just" marL="808103" indent="-404052" lvl="1">
              <a:lnSpc>
                <a:spcPts val="5240"/>
              </a:lnSpc>
              <a:buFont typeface="Arial"/>
              <a:buChar char="•"/>
            </a:pPr>
            <a:r>
              <a:rPr lang="en-US" sz="3742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Kết quả dùng để tính Score_apriori.</a:t>
            </a:r>
          </a:p>
          <a:p>
            <a:pPr algn="just">
              <a:lnSpc>
                <a:spcPts val="524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569870" y="2088955"/>
            <a:ext cx="3086100" cy="1979965"/>
            <a:chOff x="0" y="0"/>
            <a:chExt cx="812800" cy="5214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521472"/>
            </a:xfrm>
            <a:custGeom>
              <a:avLst/>
              <a:gdLst/>
              <a:ahLst/>
              <a:cxnLst/>
              <a:rect r="r" b="b" t="t" l="l"/>
              <a:pathLst>
                <a:path h="52147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478825"/>
                  </a:lnTo>
                  <a:cubicBezTo>
                    <a:pt x="812800" y="490136"/>
                    <a:pt x="808307" y="500984"/>
                    <a:pt x="800309" y="508981"/>
                  </a:cubicBezTo>
                  <a:cubicBezTo>
                    <a:pt x="792311" y="516979"/>
                    <a:pt x="781464" y="521472"/>
                    <a:pt x="770153" y="521472"/>
                  </a:cubicBezTo>
                  <a:lnTo>
                    <a:pt x="42647" y="521472"/>
                  </a:lnTo>
                  <a:cubicBezTo>
                    <a:pt x="19094" y="521472"/>
                    <a:pt x="0" y="502379"/>
                    <a:pt x="0" y="47882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569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  <a:r>
                <a:rPr lang="en-US" sz="2638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Support</a:t>
              </a:r>
            </a:p>
            <a:p>
              <a:pPr algn="ctr">
                <a:lnSpc>
                  <a:spcPts val="3693"/>
                </a:lnSpc>
              </a:pPr>
              <a:r>
                <a:rPr lang="en-US" sz="2638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Tần suất luật xuất hiện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69870" y="4522441"/>
            <a:ext cx="3086100" cy="1979965"/>
            <a:chOff x="0" y="0"/>
            <a:chExt cx="812800" cy="5214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521472"/>
            </a:xfrm>
            <a:custGeom>
              <a:avLst/>
              <a:gdLst/>
              <a:ahLst/>
              <a:cxnLst/>
              <a:rect r="r" b="b" t="t" l="l"/>
              <a:pathLst>
                <a:path h="52147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478825"/>
                  </a:lnTo>
                  <a:cubicBezTo>
                    <a:pt x="812800" y="490136"/>
                    <a:pt x="808307" y="500984"/>
                    <a:pt x="800309" y="508981"/>
                  </a:cubicBezTo>
                  <a:cubicBezTo>
                    <a:pt x="792311" y="516979"/>
                    <a:pt x="781464" y="521472"/>
                    <a:pt x="770153" y="521472"/>
                  </a:cubicBezTo>
                  <a:lnTo>
                    <a:pt x="42647" y="521472"/>
                  </a:lnTo>
                  <a:cubicBezTo>
                    <a:pt x="19094" y="521472"/>
                    <a:pt x="0" y="502379"/>
                    <a:pt x="0" y="47882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569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  <a:r>
                <a:rPr lang="en-US" sz="2638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Co</a:t>
              </a:r>
              <a:r>
                <a:rPr lang="en-US" sz="2638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nfidence</a:t>
              </a:r>
            </a:p>
            <a:p>
              <a:pPr algn="ctr">
                <a:lnSpc>
                  <a:spcPts val="3693"/>
                </a:lnSpc>
              </a:pPr>
              <a:r>
                <a:rPr lang="en-US" sz="2638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Độ tin cậy của luật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69870" y="6987982"/>
            <a:ext cx="3086100" cy="1979965"/>
            <a:chOff x="0" y="0"/>
            <a:chExt cx="812800" cy="5214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521472"/>
            </a:xfrm>
            <a:custGeom>
              <a:avLst/>
              <a:gdLst/>
              <a:ahLst/>
              <a:cxnLst/>
              <a:rect r="r" b="b" t="t" l="l"/>
              <a:pathLst>
                <a:path h="52147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478825"/>
                  </a:lnTo>
                  <a:cubicBezTo>
                    <a:pt x="812800" y="490136"/>
                    <a:pt x="808307" y="500984"/>
                    <a:pt x="800309" y="508981"/>
                  </a:cubicBezTo>
                  <a:cubicBezTo>
                    <a:pt x="792311" y="516979"/>
                    <a:pt x="781464" y="521472"/>
                    <a:pt x="770153" y="521472"/>
                  </a:cubicBezTo>
                  <a:lnTo>
                    <a:pt x="42647" y="521472"/>
                  </a:lnTo>
                  <a:cubicBezTo>
                    <a:pt x="19094" y="521472"/>
                    <a:pt x="0" y="502379"/>
                    <a:pt x="0" y="47882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12800" cy="569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  <a:r>
                <a:rPr lang="en-US" sz="2638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L</a:t>
              </a:r>
              <a:r>
                <a:rPr lang="en-US" sz="2638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ift</a:t>
              </a:r>
            </a:p>
            <a:p>
              <a:pPr algn="ctr">
                <a:lnSpc>
                  <a:spcPts val="3693"/>
                </a:lnSpc>
              </a:pPr>
              <a:r>
                <a:rPr lang="en-US" sz="2638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Mức đ</a:t>
              </a:r>
              <a:r>
                <a:rPr lang="en-US" sz="2638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ộ liên hệ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70345" y="3985151"/>
            <a:ext cx="4037376" cy="3054545"/>
            <a:chOff x="0" y="0"/>
            <a:chExt cx="1063342" cy="8044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3342" cy="804489"/>
            </a:xfrm>
            <a:custGeom>
              <a:avLst/>
              <a:gdLst/>
              <a:ahLst/>
              <a:cxnLst/>
              <a:rect r="r" b="b" t="t" l="l"/>
              <a:pathLst>
                <a:path h="804489" w="1063342">
                  <a:moveTo>
                    <a:pt x="32599" y="0"/>
                  </a:moveTo>
                  <a:lnTo>
                    <a:pt x="1030743" y="0"/>
                  </a:lnTo>
                  <a:cubicBezTo>
                    <a:pt x="1039389" y="0"/>
                    <a:pt x="1047680" y="3434"/>
                    <a:pt x="1053794" y="9548"/>
                  </a:cubicBezTo>
                  <a:cubicBezTo>
                    <a:pt x="1059907" y="15661"/>
                    <a:pt x="1063342" y="23953"/>
                    <a:pt x="1063342" y="32599"/>
                  </a:cubicBezTo>
                  <a:lnTo>
                    <a:pt x="1063342" y="771891"/>
                  </a:lnTo>
                  <a:cubicBezTo>
                    <a:pt x="1063342" y="780536"/>
                    <a:pt x="1059907" y="788828"/>
                    <a:pt x="1053794" y="794941"/>
                  </a:cubicBezTo>
                  <a:cubicBezTo>
                    <a:pt x="1047680" y="801055"/>
                    <a:pt x="1039389" y="804489"/>
                    <a:pt x="1030743" y="804489"/>
                  </a:cubicBezTo>
                  <a:lnTo>
                    <a:pt x="32599" y="804489"/>
                  </a:lnTo>
                  <a:cubicBezTo>
                    <a:pt x="14595" y="804489"/>
                    <a:pt x="0" y="789894"/>
                    <a:pt x="0" y="771891"/>
                  </a:cubicBezTo>
                  <a:lnTo>
                    <a:pt x="0" y="32599"/>
                  </a:lnTo>
                  <a:cubicBezTo>
                    <a:pt x="0" y="23953"/>
                    <a:pt x="3434" y="15661"/>
                    <a:pt x="9548" y="9548"/>
                  </a:cubicBezTo>
                  <a:cubicBezTo>
                    <a:pt x="15661" y="3434"/>
                    <a:pt x="23953" y="0"/>
                    <a:pt x="32599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63342" cy="85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  <a:r>
                <a:rPr lang="en-US" sz="2638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Ví dụ luật kết hợp trong dữ liệu du lịch</a:t>
              </a:r>
            </a:p>
            <a:p>
              <a:pPr algn="ctr">
                <a:lnSpc>
                  <a:spcPts val="3693"/>
                </a:lnSpc>
              </a:pPr>
              <a:r>
                <a:rPr lang="en-US" sz="2638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{Cost: Budget} →{Continent: Asia}</a:t>
              </a:r>
            </a:p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5/21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55864"/>
            <a:chOff x="0" y="0"/>
            <a:chExt cx="4816593" cy="462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2450"/>
            </a:xfrm>
            <a:custGeom>
              <a:avLst/>
              <a:gdLst/>
              <a:ahLst/>
              <a:cxnLst/>
              <a:rect r="r" b="b" t="t" l="l"/>
              <a:pathLst>
                <a:path h="4624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2450"/>
                  </a:lnTo>
                  <a:lnTo>
                    <a:pt x="0" y="46245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1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4916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6647" y="736842"/>
            <a:ext cx="15691127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Phân cụm K-Means Clustering</a:t>
            </a:r>
          </a:p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76902" y="2986872"/>
            <a:ext cx="16172795" cy="315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K-Means dùng để nhóm các điểm đến có đặc điểm tương đồng.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K-Means dùng các thông tin liên quan đến chi phí và mức sống để chia điểm đến thành các nhóm như tiết kiệm, trung bình, đắt đỏ và cao cấp.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Phương pháp Elbow được dùng để chọn số cụm K phù hợp.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Kết quả phân cụm hỗ trợ gợi ý các điểm đến tương tự.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6/21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55864"/>
            <a:chOff x="0" y="0"/>
            <a:chExt cx="4816593" cy="462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2450"/>
            </a:xfrm>
            <a:custGeom>
              <a:avLst/>
              <a:gdLst/>
              <a:ahLst/>
              <a:cxnLst/>
              <a:rect r="r" b="b" t="t" l="l"/>
              <a:pathLst>
                <a:path h="4624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2450"/>
                  </a:lnTo>
                  <a:lnTo>
                    <a:pt x="0" y="46245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1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4916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8438" y="316510"/>
            <a:ext cx="15691127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Lọc theo nội dung bằng TF-IDF và Cosine Similarity</a:t>
            </a:r>
          </a:p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07127" y="2982436"/>
            <a:ext cx="16296301" cy="251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Ghép thông tin điểm đến thành văn bản đặc trưng.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Vector hóa văn bản bằng TF-IDF.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So sánh truy vấn người dùng với điểm đến bằng Cosine Similarity.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Kết quả tạo ra Score_content.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7/21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55864"/>
            <a:chOff x="0" y="0"/>
            <a:chExt cx="4816593" cy="462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62450"/>
            </a:xfrm>
            <a:custGeom>
              <a:avLst/>
              <a:gdLst/>
              <a:ahLst/>
              <a:cxnLst/>
              <a:rect r="r" b="b" t="t" l="l"/>
              <a:pathLst>
                <a:path h="4624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2450"/>
                  </a:lnTo>
                  <a:lnTo>
                    <a:pt x="0" y="46245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1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4916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8438" y="316510"/>
            <a:ext cx="15691127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Mô hình Hybrid Recommendation</a:t>
            </a:r>
          </a:p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26668" y="1947106"/>
            <a:ext cx="9977061" cy="570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Content-Based Filtering: tính điểm tương đồng chính.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Apriori: bổ sung điểm từ luật kết hợp.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Collaborative Filtering: tăng cá nhân hóa dựa trên đánh giá người dùng.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K-Means: hỗ trợ gợi ý điểm đến tương tự/cùng cụm.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Hybrid Score: tổng hợp điểm để xếp hạng Top-N.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984403" y="2246264"/>
            <a:ext cx="6274897" cy="6274897"/>
          </a:xfrm>
          <a:custGeom>
            <a:avLst/>
            <a:gdLst/>
            <a:ahLst/>
            <a:cxnLst/>
            <a:rect r="r" b="b" t="t" l="l"/>
            <a:pathLst>
              <a:path h="6274897" w="6274897">
                <a:moveTo>
                  <a:pt x="0" y="0"/>
                </a:moveTo>
                <a:lnTo>
                  <a:pt x="6274897" y="0"/>
                </a:lnTo>
                <a:lnTo>
                  <a:pt x="6274897" y="6274897"/>
                </a:lnTo>
                <a:lnTo>
                  <a:pt x="0" y="6274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8/21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535201"/>
            <a:chOff x="0" y="0"/>
            <a:chExt cx="4816593" cy="6677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67707"/>
            </a:xfrm>
            <a:custGeom>
              <a:avLst/>
              <a:gdLst/>
              <a:ahLst/>
              <a:cxnLst/>
              <a:rect r="r" b="b" t="t" l="l"/>
              <a:pathLst>
                <a:path h="66770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7707"/>
                  </a:lnTo>
                  <a:lnTo>
                    <a:pt x="0" y="667707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71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3835" y="1928502"/>
            <a:ext cx="15220330" cy="7851121"/>
          </a:xfrm>
          <a:custGeom>
            <a:avLst/>
            <a:gdLst/>
            <a:ahLst/>
            <a:cxnLst/>
            <a:rect r="r" b="b" t="t" l="l"/>
            <a:pathLst>
              <a:path h="7851121" w="15220330">
                <a:moveTo>
                  <a:pt x="0" y="0"/>
                </a:moveTo>
                <a:lnTo>
                  <a:pt x="15220330" y="0"/>
                </a:lnTo>
                <a:lnTo>
                  <a:pt x="15220330" y="7851121"/>
                </a:lnTo>
                <a:lnTo>
                  <a:pt x="0" y="7851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582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8438" y="914400"/>
            <a:ext cx="1569112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Mô hình kiến trúc hệ thống đề xuất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14577" y="933128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9/21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60"/>
            <a:ext cx="18288000" cy="1488493"/>
            <a:chOff x="0" y="0"/>
            <a:chExt cx="4816593" cy="392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92031"/>
            </a:xfrm>
            <a:custGeom>
              <a:avLst/>
              <a:gdLst/>
              <a:ahLst/>
              <a:cxnLst/>
              <a:rect r="r" b="b" t="t" l="l"/>
              <a:pathLst>
                <a:path h="3920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92031"/>
                  </a:lnTo>
                  <a:lnTo>
                    <a:pt x="0" y="392031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43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3650" y="1594592"/>
            <a:ext cx="14001016" cy="7814521"/>
          </a:xfrm>
          <a:custGeom>
            <a:avLst/>
            <a:gdLst/>
            <a:ahLst/>
            <a:cxnLst/>
            <a:rect r="r" b="b" t="t" l="l"/>
            <a:pathLst>
              <a:path h="7814521" w="14001016">
                <a:moveTo>
                  <a:pt x="0" y="0"/>
                </a:moveTo>
                <a:lnTo>
                  <a:pt x="14001016" y="0"/>
                </a:lnTo>
                <a:lnTo>
                  <a:pt x="14001016" y="7814520"/>
                </a:lnTo>
                <a:lnTo>
                  <a:pt x="0" y="7814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3522" y="181659"/>
            <a:ext cx="8340478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Quy trình xử lý dữ liệu</a:t>
            </a:r>
          </a:p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10/21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535201"/>
            <a:chOff x="0" y="0"/>
            <a:chExt cx="4816593" cy="6677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67707"/>
            </a:xfrm>
            <a:custGeom>
              <a:avLst/>
              <a:gdLst/>
              <a:ahLst/>
              <a:cxnLst/>
              <a:rect r="r" b="b" t="t" l="l"/>
              <a:pathLst>
                <a:path h="66770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7707"/>
                  </a:lnTo>
                  <a:lnTo>
                    <a:pt x="0" y="667707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71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71946"/>
            <a:ext cx="15691127" cy="335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Dữ liệu sử dụng và tiền xử lý</a:t>
            </a:r>
          </a:p>
          <a:p>
            <a:pPr algn="l">
              <a:lnSpc>
                <a:spcPts val="8959"/>
              </a:lnSpc>
            </a:pPr>
          </a:p>
          <a:p>
            <a:pPr algn="l">
              <a:lnSpc>
                <a:spcPts val="895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812372"/>
            <a:ext cx="6669976" cy="6293890"/>
            <a:chOff x="0" y="0"/>
            <a:chExt cx="1756701" cy="1657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6701" cy="1657650"/>
            </a:xfrm>
            <a:custGeom>
              <a:avLst/>
              <a:gdLst/>
              <a:ahLst/>
              <a:cxnLst/>
              <a:rect r="r" b="b" t="t" l="l"/>
              <a:pathLst>
                <a:path h="1657650" w="1756701">
                  <a:moveTo>
                    <a:pt x="19732" y="0"/>
                  </a:moveTo>
                  <a:lnTo>
                    <a:pt x="1736969" y="0"/>
                  </a:lnTo>
                  <a:cubicBezTo>
                    <a:pt x="1747867" y="0"/>
                    <a:pt x="1756701" y="8834"/>
                    <a:pt x="1756701" y="19732"/>
                  </a:cubicBezTo>
                  <a:lnTo>
                    <a:pt x="1756701" y="1637918"/>
                  </a:lnTo>
                  <a:cubicBezTo>
                    <a:pt x="1756701" y="1648816"/>
                    <a:pt x="1747867" y="1657650"/>
                    <a:pt x="1736969" y="1657650"/>
                  </a:cubicBezTo>
                  <a:lnTo>
                    <a:pt x="19732" y="1657650"/>
                  </a:lnTo>
                  <a:cubicBezTo>
                    <a:pt x="8834" y="1657650"/>
                    <a:pt x="0" y="1648816"/>
                    <a:pt x="0" y="1637918"/>
                  </a:cubicBezTo>
                  <a:lnTo>
                    <a:pt x="0" y="19732"/>
                  </a:lnTo>
                  <a:cubicBezTo>
                    <a:pt x="0" y="8834"/>
                    <a:pt x="8834" y="0"/>
                    <a:pt x="19732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56701" cy="1705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05682" y="3894575"/>
            <a:ext cx="5893118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Tên điểm đến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Quốc gia, châu lục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Loại hình du lịch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Mùa phù hợp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Chi phí trung bình/ngày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Rating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Tọa độ địa lý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6054" y="3000431"/>
            <a:ext cx="4658409" cy="76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7"/>
              </a:lnSpc>
              <a:spcBef>
                <a:spcPct val="0"/>
              </a:spcBef>
            </a:pPr>
            <a:r>
              <a:rPr lang="en-US" b="true" sz="446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Dữ liệu sử dụng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304001" y="2812372"/>
            <a:ext cx="9125595" cy="6293890"/>
            <a:chOff x="0" y="0"/>
            <a:chExt cx="2403449" cy="1657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03449" cy="1657650"/>
            </a:xfrm>
            <a:custGeom>
              <a:avLst/>
              <a:gdLst/>
              <a:ahLst/>
              <a:cxnLst/>
              <a:rect r="r" b="b" t="t" l="l"/>
              <a:pathLst>
                <a:path h="1657650" w="2403449">
                  <a:moveTo>
                    <a:pt x="14422" y="0"/>
                  </a:moveTo>
                  <a:lnTo>
                    <a:pt x="2389026" y="0"/>
                  </a:lnTo>
                  <a:cubicBezTo>
                    <a:pt x="2396992" y="0"/>
                    <a:pt x="2403449" y="6457"/>
                    <a:pt x="2403449" y="14422"/>
                  </a:cubicBezTo>
                  <a:lnTo>
                    <a:pt x="2403449" y="1643228"/>
                  </a:lnTo>
                  <a:cubicBezTo>
                    <a:pt x="2403449" y="1651193"/>
                    <a:pt x="2396992" y="1657650"/>
                    <a:pt x="2389026" y="1657650"/>
                  </a:cubicBezTo>
                  <a:lnTo>
                    <a:pt x="14422" y="1657650"/>
                  </a:lnTo>
                  <a:cubicBezTo>
                    <a:pt x="10597" y="1657650"/>
                    <a:pt x="6929" y="1656131"/>
                    <a:pt x="4224" y="1653426"/>
                  </a:cubicBezTo>
                  <a:cubicBezTo>
                    <a:pt x="1519" y="1650721"/>
                    <a:pt x="0" y="1647053"/>
                    <a:pt x="0" y="1643228"/>
                  </a:cubicBezTo>
                  <a:lnTo>
                    <a:pt x="0" y="14422"/>
                  </a:lnTo>
                  <a:cubicBezTo>
                    <a:pt x="0" y="10597"/>
                    <a:pt x="1519" y="6929"/>
                    <a:pt x="4224" y="4224"/>
                  </a:cubicBezTo>
                  <a:cubicBezTo>
                    <a:pt x="6929" y="1519"/>
                    <a:pt x="10597" y="0"/>
                    <a:pt x="14422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403449" cy="1705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304001" y="3834765"/>
            <a:ext cx="8955299" cy="50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Loại bỏ dữ liệu thiếu/trùng/sai định dạng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Chuẩn hóa quốc gia, mùa, loại hình, chi phí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Tạo ma trận giao dịch cho Apriori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Chuẩn hóa đặc trưng số cho K-Means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Tạo văn bản đặc trưng cho Content-Based Filtering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2810778"/>
            <a:ext cx="6721319" cy="82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  <a:spcBef>
                <a:spcPct val="0"/>
              </a:spcBef>
            </a:pPr>
            <a:r>
              <a:rPr lang="en-US" b="true" sz="4803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</a:t>
            </a:r>
            <a:r>
              <a:rPr lang="en-US" b="true" sz="4803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iền xử lý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11/21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535201"/>
            <a:chOff x="0" y="0"/>
            <a:chExt cx="4816593" cy="6677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67707"/>
            </a:xfrm>
            <a:custGeom>
              <a:avLst/>
              <a:gdLst/>
              <a:ahLst/>
              <a:cxnLst/>
              <a:rect r="r" b="b" t="t" l="l"/>
              <a:pathLst>
                <a:path h="66770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7707"/>
                  </a:lnTo>
                  <a:lnTo>
                    <a:pt x="0" y="667707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71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4488" y="4819590"/>
            <a:ext cx="14760622" cy="4740335"/>
          </a:xfrm>
          <a:custGeom>
            <a:avLst/>
            <a:gdLst/>
            <a:ahLst/>
            <a:cxnLst/>
            <a:rect r="r" b="b" t="t" l="l"/>
            <a:pathLst>
              <a:path h="4740335" w="14760622">
                <a:moveTo>
                  <a:pt x="0" y="0"/>
                </a:moveTo>
                <a:lnTo>
                  <a:pt x="14760621" y="0"/>
                </a:lnTo>
                <a:lnTo>
                  <a:pt x="14760621" y="4740335"/>
                </a:lnTo>
                <a:lnTo>
                  <a:pt x="0" y="474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8438" y="914400"/>
            <a:ext cx="1569112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Khảo sát dữ liệu ban đầu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7421" y="2213174"/>
            <a:ext cx="15093161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Rating tập trung ở mức khá cao.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Chi phí có độ dao động lớn.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Dữ liệu có sự khác biệt rõ về chi phí, mùa và loại hình.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Phù hợp để áp dụng phân cụm và khai phá luật.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12/21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60"/>
            <a:ext cx="18640058" cy="2262787"/>
            <a:chOff x="0" y="0"/>
            <a:chExt cx="4909316" cy="5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9316" cy="595960"/>
            </a:xfrm>
            <a:custGeom>
              <a:avLst/>
              <a:gdLst/>
              <a:ahLst/>
              <a:cxnLst/>
              <a:rect r="r" b="b" t="t" l="l"/>
              <a:pathLst>
                <a:path h="595960" w="4909316">
                  <a:moveTo>
                    <a:pt x="0" y="0"/>
                  </a:moveTo>
                  <a:lnTo>
                    <a:pt x="4909316" y="0"/>
                  </a:lnTo>
                  <a:lnTo>
                    <a:pt x="4909316" y="595960"/>
                  </a:lnTo>
                  <a:lnTo>
                    <a:pt x="0" y="59596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9316" cy="643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56357" y="914400"/>
            <a:ext cx="1785528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Thiết kế thuật toán Hybrid Recommender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98810" y="3534669"/>
            <a:ext cx="13107302" cy="1006567"/>
            <a:chOff x="0" y="0"/>
            <a:chExt cx="3452129" cy="2651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52129" cy="265104"/>
            </a:xfrm>
            <a:custGeom>
              <a:avLst/>
              <a:gdLst/>
              <a:ahLst/>
              <a:cxnLst/>
              <a:rect r="r" b="b" t="t" l="l"/>
              <a:pathLst>
                <a:path h="265104" w="3452129">
                  <a:moveTo>
                    <a:pt x="10041" y="0"/>
                  </a:moveTo>
                  <a:lnTo>
                    <a:pt x="3442088" y="0"/>
                  </a:lnTo>
                  <a:cubicBezTo>
                    <a:pt x="3447633" y="0"/>
                    <a:pt x="3452129" y="4496"/>
                    <a:pt x="3452129" y="10041"/>
                  </a:cubicBezTo>
                  <a:lnTo>
                    <a:pt x="3452129" y="255063"/>
                  </a:lnTo>
                  <a:cubicBezTo>
                    <a:pt x="3452129" y="260608"/>
                    <a:pt x="3447633" y="265104"/>
                    <a:pt x="3442088" y="265104"/>
                  </a:cubicBezTo>
                  <a:lnTo>
                    <a:pt x="10041" y="265104"/>
                  </a:lnTo>
                  <a:cubicBezTo>
                    <a:pt x="7378" y="265104"/>
                    <a:pt x="4824" y="264046"/>
                    <a:pt x="2941" y="262163"/>
                  </a:cubicBezTo>
                  <a:cubicBezTo>
                    <a:pt x="1058" y="260280"/>
                    <a:pt x="0" y="257726"/>
                    <a:pt x="0" y="255063"/>
                  </a:cubicBezTo>
                  <a:lnTo>
                    <a:pt x="0" y="10041"/>
                  </a:lnTo>
                  <a:cubicBezTo>
                    <a:pt x="0" y="4496"/>
                    <a:pt x="4496" y="0"/>
                    <a:pt x="10041" y="0"/>
                  </a:cubicBezTo>
                  <a:close/>
                </a:path>
              </a:pathLst>
            </a:custGeom>
            <a:solidFill>
              <a:srgbClr val="F2F2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452129" cy="322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13"/>
                </a:lnSpc>
              </a:pPr>
              <a:r>
                <a:rPr lang="en-US" sz="2938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Score_final = 0.6 × Score_content + 0.4 × Score_apriori + Boost_CF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017580" y="4636513"/>
            <a:ext cx="13814822" cy="273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77"/>
              </a:lnSpc>
            </a:pPr>
            <a:r>
              <a:rPr lang="en-US" sz="3126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Trong đó:</a:t>
            </a:r>
          </a:p>
          <a:p>
            <a:pPr algn="just" marL="675017" indent="-337508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Score_content: điểm tương đồng nội dung.</a:t>
            </a:r>
          </a:p>
          <a:p>
            <a:pPr algn="just" marL="675017" indent="-337508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Score_apriori: điểm bổ sung từ luật kết hợp.</a:t>
            </a:r>
          </a:p>
          <a:p>
            <a:pPr algn="just" marL="675017" indent="-337508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Boost_CF: điểm thưởng nếu phù hợp với hành vi/đánh giá người dùng.</a:t>
            </a:r>
          </a:p>
          <a:p>
            <a:pPr algn="just" marL="675017" indent="-337508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Kết quả cuối cùng dùng để xếp hạng Top-N điểm đến.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13/21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7256" y="2501202"/>
            <a:ext cx="3012408" cy="74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6"/>
              </a:lnSpc>
            </a:pPr>
            <a:r>
              <a:rPr lang="en-US" sz="4347" b="true">
                <a:solidFill>
                  <a:srgbClr val="0F466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Công thức: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60"/>
            <a:ext cx="18640058" cy="1753966"/>
            <a:chOff x="0" y="0"/>
            <a:chExt cx="4909316" cy="461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9316" cy="461950"/>
            </a:xfrm>
            <a:custGeom>
              <a:avLst/>
              <a:gdLst/>
              <a:ahLst/>
              <a:cxnLst/>
              <a:rect r="r" b="b" t="t" l="l"/>
              <a:pathLst>
                <a:path h="461950" w="4909316">
                  <a:moveTo>
                    <a:pt x="0" y="0"/>
                  </a:moveTo>
                  <a:lnTo>
                    <a:pt x="4909316" y="0"/>
                  </a:lnTo>
                  <a:lnTo>
                    <a:pt x="4909316" y="461950"/>
                  </a:lnTo>
                  <a:lnTo>
                    <a:pt x="0" y="46195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9316" cy="5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4220" y="4227522"/>
            <a:ext cx="16925474" cy="4992678"/>
          </a:xfrm>
          <a:custGeom>
            <a:avLst/>
            <a:gdLst/>
            <a:ahLst/>
            <a:cxnLst/>
            <a:rect r="r" b="b" t="t" l="l"/>
            <a:pathLst>
              <a:path h="4992678" w="16925474">
                <a:moveTo>
                  <a:pt x="0" y="0"/>
                </a:moveTo>
                <a:lnTo>
                  <a:pt x="16925473" y="0"/>
                </a:lnTo>
                <a:lnTo>
                  <a:pt x="16925473" y="4992678"/>
                </a:lnTo>
                <a:lnTo>
                  <a:pt x="0" y="4992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51" r="0" b="-1685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1028700" y="1631760"/>
          <a:ext cx="9429750" cy="2514600"/>
        </p:xfrm>
        <a:graphic>
          <a:graphicData uri="http://schemas.openxmlformats.org/presentationml/2006/ole">
            <p:oleObj imgW="11315700" imgH="4394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287901" y="304458"/>
            <a:ext cx="1785528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Kết quả Apriori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14/21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60"/>
            <a:ext cx="18640058" cy="1471084"/>
            <a:chOff x="0" y="0"/>
            <a:chExt cx="4909316" cy="387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9316" cy="387446"/>
            </a:xfrm>
            <a:custGeom>
              <a:avLst/>
              <a:gdLst/>
              <a:ahLst/>
              <a:cxnLst/>
              <a:rect r="r" b="b" t="t" l="l"/>
              <a:pathLst>
                <a:path h="387446" w="4909316">
                  <a:moveTo>
                    <a:pt x="0" y="0"/>
                  </a:moveTo>
                  <a:lnTo>
                    <a:pt x="4909316" y="0"/>
                  </a:lnTo>
                  <a:lnTo>
                    <a:pt x="4909316" y="387446"/>
                  </a:lnTo>
                  <a:lnTo>
                    <a:pt x="0" y="387446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9316" cy="435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87901" y="363331"/>
            <a:ext cx="8771821" cy="102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16"/>
              </a:lnSpc>
              <a:spcBef>
                <a:spcPct val="0"/>
              </a:spcBef>
            </a:pPr>
            <a:r>
              <a:rPr lang="en-US" b="true" sz="6011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Kết quả thuật toán K-Means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84050"/>
            <a:ext cx="14745593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K-Means được áp dụng để phân cụm điểm đến theo các đặc trưng số.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Số cụm phù hợp được chọn là K = 5.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Các cụm thể hiện sự khác biệt về mức chi phí và đặc điểm điểm đến.</a:t>
            </a:r>
          </a:p>
          <a:p>
            <a:pPr algn="just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Kết quả cụm hỗ trợ gợi ý các điểm đến thay thế/tương tự.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15/21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60"/>
            <a:ext cx="18640058" cy="1471084"/>
            <a:chOff x="0" y="0"/>
            <a:chExt cx="4909316" cy="387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9316" cy="387446"/>
            </a:xfrm>
            <a:custGeom>
              <a:avLst/>
              <a:gdLst/>
              <a:ahLst/>
              <a:cxnLst/>
              <a:rect r="r" b="b" t="t" l="l"/>
              <a:pathLst>
                <a:path h="387446" w="4909316">
                  <a:moveTo>
                    <a:pt x="0" y="0"/>
                  </a:moveTo>
                  <a:lnTo>
                    <a:pt x="4909316" y="0"/>
                  </a:lnTo>
                  <a:lnTo>
                    <a:pt x="4909316" y="387446"/>
                  </a:lnTo>
                  <a:lnTo>
                    <a:pt x="0" y="387446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9316" cy="435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1043" y="4000623"/>
            <a:ext cx="7451470" cy="6017975"/>
          </a:xfrm>
          <a:custGeom>
            <a:avLst/>
            <a:gdLst/>
            <a:ahLst/>
            <a:cxnLst/>
            <a:rect r="r" b="b" t="t" l="l"/>
            <a:pathLst>
              <a:path h="6017975" w="7451470">
                <a:moveTo>
                  <a:pt x="0" y="0"/>
                </a:moveTo>
                <a:lnTo>
                  <a:pt x="7451470" y="0"/>
                </a:lnTo>
                <a:lnTo>
                  <a:pt x="7451470" y="6017975"/>
                </a:lnTo>
                <a:lnTo>
                  <a:pt x="0" y="6017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36074" y="4000623"/>
            <a:ext cx="7921109" cy="6017975"/>
          </a:xfrm>
          <a:custGeom>
            <a:avLst/>
            <a:gdLst/>
            <a:ahLst/>
            <a:cxnLst/>
            <a:rect r="r" b="b" t="t" l="l"/>
            <a:pathLst>
              <a:path h="6017975" w="7921109">
                <a:moveTo>
                  <a:pt x="0" y="0"/>
                </a:moveTo>
                <a:lnTo>
                  <a:pt x="7921108" y="0"/>
                </a:lnTo>
                <a:lnTo>
                  <a:pt x="7921108" y="6017975"/>
                </a:lnTo>
                <a:lnTo>
                  <a:pt x="0" y="6017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3" r="0" b="-91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09184" y="1031640"/>
            <a:ext cx="8118311" cy="2845555"/>
          </a:xfrm>
          <a:custGeom>
            <a:avLst/>
            <a:gdLst/>
            <a:ahLst/>
            <a:cxnLst/>
            <a:rect r="r" b="b" t="t" l="l"/>
            <a:pathLst>
              <a:path h="2845555" w="8118311">
                <a:moveTo>
                  <a:pt x="0" y="0"/>
                </a:moveTo>
                <a:lnTo>
                  <a:pt x="8118311" y="0"/>
                </a:lnTo>
                <a:lnTo>
                  <a:pt x="8118311" y="2845556"/>
                </a:lnTo>
                <a:lnTo>
                  <a:pt x="0" y="2845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46" t="-2745" r="0" b="-2745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557852" y="363331"/>
            <a:ext cx="5718890" cy="209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16"/>
              </a:lnSpc>
              <a:spcBef>
                <a:spcPct val="0"/>
              </a:spcBef>
            </a:pPr>
            <a:r>
              <a:rPr lang="en-US" b="true" sz="6011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Kết quả thuật toán K-Means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16/21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60"/>
            <a:ext cx="18640058" cy="2262787"/>
            <a:chOff x="0" y="0"/>
            <a:chExt cx="4909316" cy="5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9316" cy="595960"/>
            </a:xfrm>
            <a:custGeom>
              <a:avLst/>
              <a:gdLst/>
              <a:ahLst/>
              <a:cxnLst/>
              <a:rect r="r" b="b" t="t" l="l"/>
              <a:pathLst>
                <a:path h="595960" w="4909316">
                  <a:moveTo>
                    <a:pt x="0" y="0"/>
                  </a:moveTo>
                  <a:lnTo>
                    <a:pt x="4909316" y="0"/>
                  </a:lnTo>
                  <a:lnTo>
                    <a:pt x="4909316" y="595960"/>
                  </a:lnTo>
                  <a:lnTo>
                    <a:pt x="0" y="59596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9316" cy="643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56357" y="914400"/>
            <a:ext cx="1785528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Kết quả Hybrid Recommender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7870" y="3296873"/>
            <a:ext cx="16501430" cy="321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9949" indent="-394974" lvl="1">
              <a:lnSpc>
                <a:spcPts val="5122"/>
              </a:lnSpc>
              <a:buFont typeface="Arial"/>
              <a:buChar char="•"/>
            </a:pPr>
            <a:r>
              <a:rPr lang="en-US" sz="3658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Hệ thố</a:t>
            </a:r>
            <a:r>
              <a:rPr lang="en-US" sz="3658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ng kết hợp Content-Based, Apriori và Collaborative Filtering.</a:t>
            </a:r>
          </a:p>
          <a:p>
            <a:pPr algn="l" marL="789949" indent="-394974" lvl="1">
              <a:lnSpc>
                <a:spcPts val="5122"/>
              </a:lnSpc>
              <a:buFont typeface="Arial"/>
              <a:buChar char="•"/>
            </a:pPr>
            <a:r>
              <a:rPr lang="en-US" sz="3658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Content-Based giữ vai trò chính trong việc so khớp nhu cầu người dùng.</a:t>
            </a:r>
          </a:p>
          <a:p>
            <a:pPr algn="l" marL="789949" indent="-394974" lvl="1">
              <a:lnSpc>
                <a:spcPts val="5122"/>
              </a:lnSpc>
              <a:buFont typeface="Arial"/>
              <a:buChar char="•"/>
            </a:pPr>
            <a:r>
              <a:rPr lang="en-US" sz="3658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Apriori giúp bổ sung tri thức từ dữ liệu đã khai phá.</a:t>
            </a:r>
          </a:p>
          <a:p>
            <a:pPr algn="l" marL="789949" indent="-394974" lvl="1">
              <a:lnSpc>
                <a:spcPts val="5122"/>
              </a:lnSpc>
              <a:buFont typeface="Arial"/>
              <a:buChar char="•"/>
            </a:pPr>
            <a:r>
              <a:rPr lang="en-US" sz="3658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CF Boost tăng tính cá nhân hóa khi có đánh giá người dùng.</a:t>
            </a:r>
          </a:p>
          <a:p>
            <a:pPr algn="l" marL="789949" indent="-394974" lvl="1">
              <a:lnSpc>
                <a:spcPts val="5122"/>
              </a:lnSpc>
              <a:buFont typeface="Arial"/>
              <a:buChar char="•"/>
            </a:pPr>
            <a:r>
              <a:rPr lang="en-US" sz="3658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Kết quả cuối cùng là danh sách Top-N điểm đến phù hợp nhất.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17/21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60"/>
            <a:ext cx="18640058" cy="2262787"/>
            <a:chOff x="0" y="0"/>
            <a:chExt cx="4909316" cy="5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9316" cy="595960"/>
            </a:xfrm>
            <a:custGeom>
              <a:avLst/>
              <a:gdLst/>
              <a:ahLst/>
              <a:cxnLst/>
              <a:rect r="r" b="b" t="t" l="l"/>
              <a:pathLst>
                <a:path h="595960" w="4909316">
                  <a:moveTo>
                    <a:pt x="0" y="0"/>
                  </a:moveTo>
                  <a:lnTo>
                    <a:pt x="4909316" y="0"/>
                  </a:lnTo>
                  <a:lnTo>
                    <a:pt x="4909316" y="595960"/>
                  </a:lnTo>
                  <a:lnTo>
                    <a:pt x="0" y="59596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9316" cy="643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6226" y="2168798"/>
            <a:ext cx="16935548" cy="7051402"/>
          </a:xfrm>
          <a:custGeom>
            <a:avLst/>
            <a:gdLst/>
            <a:ahLst/>
            <a:cxnLst/>
            <a:rect r="r" b="b" t="t" l="l"/>
            <a:pathLst>
              <a:path h="7051402" w="16935548">
                <a:moveTo>
                  <a:pt x="0" y="0"/>
                </a:moveTo>
                <a:lnTo>
                  <a:pt x="16935548" y="0"/>
                </a:lnTo>
                <a:lnTo>
                  <a:pt x="16935548" y="7051402"/>
                </a:lnTo>
                <a:lnTo>
                  <a:pt x="0" y="7051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6357" y="914400"/>
            <a:ext cx="1785528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Kết quả Hybrid Recommender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18/21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60"/>
            <a:ext cx="18640058" cy="2262787"/>
            <a:chOff x="0" y="0"/>
            <a:chExt cx="4909316" cy="5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9316" cy="595960"/>
            </a:xfrm>
            <a:custGeom>
              <a:avLst/>
              <a:gdLst/>
              <a:ahLst/>
              <a:cxnLst/>
              <a:rect r="r" b="b" t="t" l="l"/>
              <a:pathLst>
                <a:path h="595960" w="4909316">
                  <a:moveTo>
                    <a:pt x="0" y="0"/>
                  </a:moveTo>
                  <a:lnTo>
                    <a:pt x="4909316" y="0"/>
                  </a:lnTo>
                  <a:lnTo>
                    <a:pt x="4909316" y="595960"/>
                  </a:lnTo>
                  <a:lnTo>
                    <a:pt x="0" y="59596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9316" cy="643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87901" y="428942"/>
            <a:ext cx="1785528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Kết quả đạt được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6578" y="3046958"/>
            <a:ext cx="14927866" cy="546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Xây dựng được hệ thố</a:t>
            </a: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ng web gợi ý điểm đến du lịch quốc tế.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Hoàn t</a:t>
            </a: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hành quy trình thu thập, xử lý và lưu trữ dữ liệu.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Khai phá được luật kết hợp Apriori.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Phân cụm điểm đến bằng K-Means.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Xây dựng mô hình Hybrid Recommendat</a:t>
            </a: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ion.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Tích hợp Gemini API và bản đồ Leaflet.js.</a:t>
            </a:r>
          </a:p>
          <a:p>
            <a:pPr algn="l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Hoàn thiện các giao diện chính.</a:t>
            </a:r>
          </a:p>
          <a:p>
            <a:pPr algn="l">
              <a:lnSpc>
                <a:spcPts val="54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19/21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60"/>
            <a:ext cx="18640058" cy="2262787"/>
            <a:chOff x="0" y="0"/>
            <a:chExt cx="4909316" cy="5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9316" cy="595960"/>
            </a:xfrm>
            <a:custGeom>
              <a:avLst/>
              <a:gdLst/>
              <a:ahLst/>
              <a:cxnLst/>
              <a:rect r="r" b="b" t="t" l="l"/>
              <a:pathLst>
                <a:path h="595960" w="4909316">
                  <a:moveTo>
                    <a:pt x="0" y="0"/>
                  </a:moveTo>
                  <a:lnTo>
                    <a:pt x="4909316" y="0"/>
                  </a:lnTo>
                  <a:lnTo>
                    <a:pt x="4909316" y="595960"/>
                  </a:lnTo>
                  <a:lnTo>
                    <a:pt x="0" y="59596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9316" cy="643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87901" y="428942"/>
            <a:ext cx="1785528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Hạn chế và hướng phát triển của đề tài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50823" y="2027280"/>
            <a:ext cx="7253179" cy="6404504"/>
            <a:chOff x="0" y="0"/>
            <a:chExt cx="1910302" cy="1686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10302" cy="1686783"/>
            </a:xfrm>
            <a:custGeom>
              <a:avLst/>
              <a:gdLst/>
              <a:ahLst/>
              <a:cxnLst/>
              <a:rect r="r" b="b" t="t" l="l"/>
              <a:pathLst>
                <a:path h="1686783" w="1910302">
                  <a:moveTo>
                    <a:pt x="18146" y="0"/>
                  </a:moveTo>
                  <a:lnTo>
                    <a:pt x="1892157" y="0"/>
                  </a:lnTo>
                  <a:cubicBezTo>
                    <a:pt x="1896969" y="0"/>
                    <a:pt x="1901585" y="1912"/>
                    <a:pt x="1904988" y="5315"/>
                  </a:cubicBezTo>
                  <a:cubicBezTo>
                    <a:pt x="1908390" y="8718"/>
                    <a:pt x="1910302" y="13333"/>
                    <a:pt x="1910302" y="18146"/>
                  </a:cubicBezTo>
                  <a:lnTo>
                    <a:pt x="1910302" y="1668637"/>
                  </a:lnTo>
                  <a:cubicBezTo>
                    <a:pt x="1910302" y="1678659"/>
                    <a:pt x="1902178" y="1686783"/>
                    <a:pt x="1892157" y="1686783"/>
                  </a:cubicBezTo>
                  <a:lnTo>
                    <a:pt x="18146" y="1686783"/>
                  </a:lnTo>
                  <a:cubicBezTo>
                    <a:pt x="8124" y="1686783"/>
                    <a:pt x="0" y="1678659"/>
                    <a:pt x="0" y="1668637"/>
                  </a:cubicBezTo>
                  <a:lnTo>
                    <a:pt x="0" y="18146"/>
                  </a:lnTo>
                  <a:cubicBezTo>
                    <a:pt x="0" y="8124"/>
                    <a:pt x="8124" y="0"/>
                    <a:pt x="1814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10302" cy="173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95964" y="1996846"/>
            <a:ext cx="678058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F466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Hạn chế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0823" y="2933491"/>
            <a:ext cx="7253179" cy="50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Dữ liệu còn phụ thuộc vào nguồn công khai.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Đánh giá người dùng thực tế chưa nhiều.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Trọng số Hybrid chưa được tối ưu tự động.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Chưa tích hợp dữ liệu thời gian thực.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24042" y="2027280"/>
            <a:ext cx="8329178" cy="6404504"/>
            <a:chOff x="0" y="0"/>
            <a:chExt cx="2193693" cy="16867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3693" cy="1686783"/>
            </a:xfrm>
            <a:custGeom>
              <a:avLst/>
              <a:gdLst/>
              <a:ahLst/>
              <a:cxnLst/>
              <a:rect r="r" b="b" t="t" l="l"/>
              <a:pathLst>
                <a:path h="1686783" w="2193693">
                  <a:moveTo>
                    <a:pt x="15801" y="0"/>
                  </a:moveTo>
                  <a:lnTo>
                    <a:pt x="2177891" y="0"/>
                  </a:lnTo>
                  <a:cubicBezTo>
                    <a:pt x="2186618" y="0"/>
                    <a:pt x="2193693" y="7075"/>
                    <a:pt x="2193693" y="15801"/>
                  </a:cubicBezTo>
                  <a:lnTo>
                    <a:pt x="2193693" y="1670982"/>
                  </a:lnTo>
                  <a:cubicBezTo>
                    <a:pt x="2193693" y="1675172"/>
                    <a:pt x="2192028" y="1679191"/>
                    <a:pt x="2189065" y="1682155"/>
                  </a:cubicBezTo>
                  <a:cubicBezTo>
                    <a:pt x="2186101" y="1685118"/>
                    <a:pt x="2182082" y="1686783"/>
                    <a:pt x="2177891" y="1686783"/>
                  </a:cubicBezTo>
                  <a:lnTo>
                    <a:pt x="15801" y="1686783"/>
                  </a:lnTo>
                  <a:cubicBezTo>
                    <a:pt x="7075" y="1686783"/>
                    <a:pt x="0" y="1679708"/>
                    <a:pt x="0" y="1670982"/>
                  </a:cubicBezTo>
                  <a:lnTo>
                    <a:pt x="0" y="15801"/>
                  </a:lnTo>
                  <a:cubicBezTo>
                    <a:pt x="0" y="7075"/>
                    <a:pt x="7075" y="0"/>
                    <a:pt x="1580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93693" cy="173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769183" y="1996846"/>
            <a:ext cx="678058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F466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</a:t>
            </a:r>
            <a:r>
              <a:rPr lang="en-US" sz="4500" b="true">
                <a:solidFill>
                  <a:srgbClr val="0F466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ướng phát triển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24042" y="2850631"/>
            <a:ext cx="8329178" cy="5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Mở rộng và cập nhật d</a:t>
            </a: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ữ liệu thường xuyên.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Tích hợp API thời tiết, vé máy bay, khách sạn, sự kiện.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Cải thiện mô hình gợi ý để cá nhân hóa tốt hơn.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Triển khai online và kiểm thử với người dùng thật.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20/21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5084" y="3159389"/>
            <a:ext cx="15504216" cy="500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92"/>
              </a:lnSpc>
            </a:pPr>
            <a:r>
              <a:rPr lang="en-US" b="true" sz="978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Cảm ơn thầy cô và các bạn đã lắng nghe </a:t>
            </a:r>
          </a:p>
          <a:p>
            <a:pPr algn="ctr" marL="0" indent="0" lvl="0">
              <a:lnSpc>
                <a:spcPts val="12572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15109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4662"/>
                </a:solidFill>
                <a:latin typeface="Noto Sans"/>
                <a:ea typeface="Noto Sans"/>
                <a:cs typeface="Noto Sans"/>
                <a:sym typeface="Noto Sans"/>
              </a:rPr>
              <a:t>Trang 21/21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DAGeto9njhQ</dc:identifier>
  <dcterms:modified xsi:type="dcterms:W3CDTF">2011-08-01T06:04:30Z</dcterms:modified>
  <cp:revision>1</cp:revision>
  <dc:title>DATN</dc:title>
</cp:coreProperties>
</file>